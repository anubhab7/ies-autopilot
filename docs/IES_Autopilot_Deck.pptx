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es-autopilot.b26015.workers.dev" TargetMode="External"/><Relationship Id="rId3" Type="http://schemas.openxmlformats.org/officeDocument/2006/relationships/hyperlink" Target="https://github.com/anubhab7/ies-autopilot" TargetMode="Externa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1463040"/>
            <a:ext cx="5547207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4C8DFF"/>
                </a:solidFill>
                <a:latin typeface="Calibri"/>
              </a:rPr>
              <a:t>IES Autopilot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2651760"/>
            <a:ext cx="55472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800"/>
              </a:spcAft>
            </a:pPr>
            <a:r>
              <a:rPr sz="2000" b="0">
                <a:solidFill>
                  <a:srgbClr val="E6EDF7"/>
                </a:solidFill>
                <a:latin typeface="Calibri"/>
              </a:rPr>
              <a:t>Your finance team's AI crew, with a human expert always on call</a:t>
            </a:r>
          </a:p>
          <a:p>
            <a:pPr algn="just">
              <a:spcAft>
                <a:spcPts val="200"/>
              </a:spcAft>
            </a:pPr>
            <a:r>
              <a:rPr sz="1600" b="1">
                <a:solidFill>
                  <a:srgbClr val="E6EDF7"/>
                </a:solidFill>
                <a:latin typeface="Calibri"/>
              </a:rPr>
              <a:t>Anubhab Chakraborty</a:t>
            </a:r>
          </a:p>
          <a:p>
            <a:pPr algn="just">
              <a:spcAft>
                <a:spcPts val="2400"/>
              </a:spcAft>
            </a:pPr>
            <a:r>
              <a:rPr sz="1600" b="0">
                <a:solidFill>
                  <a:srgbClr val="8FA3BF"/>
                </a:solidFill>
                <a:latin typeface="Calibri"/>
              </a:rPr>
              <a:t>Aspiring product manager who designed and built this prototype for the Intuit PM Intern case.</a:t>
            </a:r>
          </a:p>
          <a:p>
            <a:pPr algn="just">
              <a:spcAft>
                <a:spcPts val="1000"/>
              </a:spcAft>
            </a:pPr>
            <a:r>
              <a:rPr sz="1600" b="0">
                <a:solidFill>
                  <a:srgbClr val="8FA3BF"/>
                </a:solidFill>
                <a:latin typeface="Calibri"/>
              </a:rPr>
              <a:t>Live prototype: </a:t>
            </a:r>
            <a:r>
              <a:rPr sz="1600" b="0" u="sng">
                <a:solidFill>
                  <a:srgbClr val="4C8DFF"/>
                </a:solidFill>
                <a:latin typeface="Calibri"/>
                <a:hlinkClick r:id="rId2"/>
              </a:rPr>
              <a:t>https://ies-autopilot.b26015.workers.dev</a:t>
            </a:r>
          </a:p>
          <a:p>
            <a:pPr algn="just">
              <a:spcAft>
                <a:spcPts val="1000"/>
              </a:spcAft>
            </a:pPr>
            <a:r>
              <a:rPr sz="1600" b="0">
                <a:solidFill>
                  <a:srgbClr val="8FA3BF"/>
                </a:solidFill>
                <a:latin typeface="Calibri"/>
              </a:rPr>
              <a:t>GitHub: </a:t>
            </a:r>
            <a:r>
              <a:rPr sz="1600" b="0" u="sng">
                <a:solidFill>
                  <a:srgbClr val="4C8DFF"/>
                </a:solidFill>
                <a:latin typeface="Calibri"/>
                <a:hlinkClick r:id="rId3"/>
              </a:rPr>
              <a:t>https://github.com/anubhab7/ies-autopilot</a:t>
            </a:r>
          </a:p>
        </p:txBody>
      </p:sp>
      <p:pic>
        <p:nvPicPr>
          <p:cNvPr id="4" name="Picture 3" descr="01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69549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The customer problem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Who: </a:t>
            </a:r>
            <a:r>
              <a:rPr sz="1600" b="0">
                <a:solidFill>
                  <a:srgbClr val="E6EDF7"/>
                </a:solidFill>
                <a:latin typeface="Calibri"/>
              </a:rPr>
              <a:t>Maya, a Controller at a 420-person, three-entity company, is blocked by intercompany mismatches, manual reconciliations, and agents she cannot trust.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Goal: </a:t>
            </a:r>
            <a:r>
              <a:rPr sz="1600" b="0">
                <a:solidFill>
                  <a:srgbClr val="E6EDF7"/>
                </a:solidFill>
                <a:latin typeface="Calibri"/>
              </a:rPr>
              <a:t>close in 3 days. Only 18% of teams do; half take 6 or more (Ledge).</a:t>
            </a:r>
          </a:p>
        </p:txBody>
      </p:sp>
      <p:pic>
        <p:nvPicPr>
          <p:cNvPr id="4" name="Picture 3" descr="02-morning-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4897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What IES has today, and the gap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Today: </a:t>
            </a:r>
            <a:r>
              <a:rPr sz="1600" b="0">
                <a:solidFill>
                  <a:srgbClr val="E6EDF7"/>
                </a:solidFill>
                <a:latin typeface="Calibri"/>
              </a:rPr>
              <a:t>7 function agents, used monthly by 75% of customers.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Gaps: </a:t>
            </a:r>
            <a:r>
              <a:rPr sz="1600" b="0">
                <a:solidFill>
                  <a:srgbClr val="E6EDF7"/>
                </a:solidFill>
                <a:latin typeface="Calibri"/>
              </a:rPr>
              <a:t>agents map to functions, not outcomes; trust tools are missing; developers pay for data and wait 30 days for review.</a:t>
            </a:r>
          </a:p>
        </p:txBody>
      </p:sp>
      <p:pic>
        <p:nvPicPr>
          <p:cNvPr id="4" name="Picture 3" descr="17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4897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Vision and three pillars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E6EDF7"/>
                </a:solidFill>
                <a:latin typeface="Calibri"/>
              </a:rPr>
              <a:t>Every mid-market finance team gets an AI crew with an expert on call.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1. </a:t>
            </a:r>
            <a:r>
              <a:rPr sz="1600" b="0">
                <a:solidFill>
                  <a:srgbClr val="E6EDF7"/>
                </a:solidFill>
                <a:latin typeface="Calibri"/>
              </a:rPr>
              <a:t>Outcome Autopilots, not feature agents.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2. </a:t>
            </a:r>
            <a:r>
              <a:rPr sz="1600" b="0">
                <a:solidFill>
                  <a:srgbClr val="E6EDF7"/>
                </a:solidFill>
                <a:latin typeface="Calibri"/>
              </a:rPr>
              <a:t>Trust by design, with guardrails and undo.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3. </a:t>
            </a:r>
            <a:r>
              <a:rPr sz="1600" b="0">
                <a:solidFill>
                  <a:srgbClr val="E6EDF7"/>
                </a:solidFill>
                <a:latin typeface="Calibri"/>
              </a:rPr>
              <a:t>An ecosystem where builders keep 80% to 85%.</a:t>
            </a:r>
          </a:p>
        </p:txBody>
      </p:sp>
      <p:pic>
        <p:nvPicPr>
          <p:cNvPr id="4" name="Picture 3" descr="16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4897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Customer experience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Close Autopilot: </a:t>
            </a:r>
            <a:r>
              <a:rPr sz="1600" b="0">
                <a:solidFill>
                  <a:srgbClr val="E6EDF7"/>
                </a:solidFill>
                <a:latin typeface="Calibri"/>
              </a:rPr>
              <a:t>one board, four lanes, a 9-day close cut to 3.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Exceptions: </a:t>
            </a:r>
            <a:r>
              <a:rPr sz="1600" b="0">
                <a:solidFill>
                  <a:srgbClr val="E6EDF7"/>
                </a:solidFill>
                <a:latin typeface="Calibri"/>
              </a:rPr>
              <a:t>evidence, a balanced draft, and why each landed in its lane.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Expert on call: </a:t>
            </a:r>
            <a:r>
              <a:rPr sz="1600" b="0">
                <a:solidFill>
                  <a:srgbClr val="E6EDF7"/>
                </a:solidFill>
                <a:latin typeface="Calibri"/>
              </a:rPr>
              <a:t>Priya Raman replies with a reviewed entry.</a:t>
            </a:r>
          </a:p>
        </p:txBody>
      </p:sp>
      <p:pic>
        <p:nvPicPr>
          <p:cNvPr id="4" name="Picture 3" descr="03-close-aut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5758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pic>
        <p:nvPicPr>
          <p:cNvPr id="5" name="Picture 4" descr="04-exception-ic-3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4180022"/>
            <a:ext cx="2705023" cy="1690639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pic>
        <p:nvPicPr>
          <p:cNvPr id="6" name="Picture 5" descr="07-expert-re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911" y="4180022"/>
            <a:ext cx="2705023" cy="1690639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7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Human plus AI operating model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Rule: </a:t>
            </a:r>
            <a:r>
              <a:rPr sz="1600" b="0">
                <a:solidFill>
                  <a:srgbClr val="E6EDF7"/>
                </a:solidFill>
                <a:latin typeface="Calibri"/>
              </a:rPr>
              <a:t>agents post alone only when confident, reversible, and strictly below materiality.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Example: </a:t>
            </a:r>
            <a:r>
              <a:rPr sz="1600" b="0">
                <a:solidFill>
                  <a:srgbClr val="E6EDF7"/>
                </a:solidFill>
                <a:latin typeface="Calibri"/>
              </a:rPr>
              <a:t>at a $40,000 limit, FX-77 ($38,100) auto-posts; DEP-5 ($40,000) waits for Maya.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Autonomy Dial: </a:t>
            </a:r>
            <a:r>
              <a:rPr sz="1600" b="0">
                <a:solidFill>
                  <a:srgbClr val="E6EDF7"/>
                </a:solidFill>
                <a:latin typeface="Calibri"/>
              </a:rPr>
              <a:t>L0 to L3 per workflow, previewed first.</a:t>
            </a:r>
          </a:p>
        </p:txBody>
      </p:sp>
      <p:pic>
        <p:nvPicPr>
          <p:cNvPr id="4" name="Picture 3" descr="05-control-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4897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Developer journey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Onboard: </a:t>
            </a:r>
            <a:r>
              <a:rPr sz="1600" b="0">
                <a:solidFill>
                  <a:srgbClr val="E6EDF7"/>
                </a:solidFill>
                <a:latin typeface="Calibri"/>
              </a:rPr>
              <a:t>Hangar sandbox with synthetic data and a first-call timer.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Build: </a:t>
            </a:r>
            <a:r>
              <a:rPr sz="1600" b="0">
                <a:solidFill>
                  <a:srgbClr val="E6EDF7"/>
                </a:solidFill>
                <a:latin typeface="Calibri"/>
              </a:rPr>
              <a:t>SDK, no-code, REST, and hosted MCP that drafts, never posts.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Certify and earn: </a:t>
            </a:r>
            <a:r>
              <a:rPr sz="1600" b="0">
                <a:solidFill>
                  <a:srgbClr val="E6EDF7"/>
                </a:solidFill>
                <a:latin typeface="Calibri"/>
              </a:rPr>
              <a:t>50 evals, v2 scores 98%; live in 3 days, keep 80%.</a:t>
            </a:r>
          </a:p>
        </p:txBody>
      </p:sp>
      <p:pic>
        <p:nvPicPr>
          <p:cNvPr id="4" name="Picture 3" descr="12-han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5758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pic>
        <p:nvPicPr>
          <p:cNvPr id="5" name="Picture 4" descr="14-studio-e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4180022"/>
            <a:ext cx="2705023" cy="1690639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pic>
        <p:nvPicPr>
          <p:cNvPr id="6" name="Picture 5" descr="15-publ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911" y="4180022"/>
            <a:ext cx="2705023" cy="1690639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7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Business and ecosystem model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Revenue: </a:t>
            </a:r>
            <a:r>
              <a:rPr sz="1600" b="0">
                <a:solidFill>
                  <a:srgbClr val="E6EDF7"/>
                </a:solidFill>
                <a:latin typeface="Calibri"/>
              </a:rPr>
              <a:t>outcome-priced Autopilot tier, expert session fees, and an Agent Store take rate.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Illustrative GMV: </a:t>
            </a:r>
            <a:r>
              <a:rPr sz="1600" b="0">
                <a:solidFill>
                  <a:srgbClr val="E6EDF7"/>
                </a:solidFill>
                <a:latin typeface="Calibri"/>
              </a:rPr>
              <a:t>8,000 x 25% x 2 x $250 x 12 = $12M; $2.4M to Intuit at 20%.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E6EDF7"/>
                </a:solidFill>
                <a:latin typeface="Calibri"/>
              </a:rPr>
              <a:t>Free sandbox and reads attract builders.</a:t>
            </a:r>
          </a:p>
        </p:txBody>
      </p:sp>
      <p:pic>
        <p:nvPicPr>
          <p:cNvPr id="4" name="Picture 3" descr="10-agent-detail-ledger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4897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554720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Roadmap, experiments, and KPIs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5760" y="1645920"/>
            <a:ext cx="554720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Now: </a:t>
            </a:r>
            <a:r>
              <a:rPr sz="1600" b="0">
                <a:solidFill>
                  <a:srgbClr val="E6EDF7"/>
                </a:solidFill>
                <a:latin typeface="Calibri"/>
              </a:rPr>
              <a:t>Close Autopilot and the dial. </a:t>
            </a:r>
            <a:r>
              <a:rPr sz="1600" b="1">
                <a:solidFill>
                  <a:srgbClr val="4C8DFF"/>
                </a:solidFill>
                <a:latin typeface="Calibri"/>
              </a:rPr>
              <a:t>Next: </a:t>
            </a:r>
            <a:r>
              <a:rPr sz="1600" b="0">
                <a:solidFill>
                  <a:srgbClr val="E6EDF7"/>
                </a:solidFill>
                <a:latin typeface="Calibri"/>
              </a:rPr>
              <a:t>Agent Store. </a:t>
            </a:r>
            <a:r>
              <a:rPr sz="1600" b="1">
                <a:solidFill>
                  <a:srgbClr val="4C8DFF"/>
                </a:solidFill>
                <a:latin typeface="Calibri"/>
              </a:rPr>
              <a:t>Later: </a:t>
            </a:r>
            <a:r>
              <a:rPr sz="1600" b="0">
                <a:solidFill>
                  <a:srgbClr val="E6EDF7"/>
                </a:solidFill>
                <a:latin typeface="Calibri"/>
              </a:rPr>
              <a:t>outcome pricing.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Why: </a:t>
            </a:r>
            <a:r>
              <a:rPr sz="1600" b="0">
                <a:solidFill>
                  <a:srgbClr val="E6EDF7"/>
                </a:solidFill>
                <a:latin typeface="Calibri"/>
              </a:rPr>
              <a:t>prove trust on the close before third-party agents act.</a:t>
            </a:r>
          </a:p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North Star: </a:t>
            </a:r>
            <a:r>
              <a:rPr sz="1600" b="0">
                <a:solidFill>
                  <a:srgbClr val="E6EDF7"/>
                </a:solidFill>
                <a:latin typeface="Calibri"/>
              </a:rPr>
              <a:t>verified agent hours, tested first with a Wizard-of-Oz pilot.</a:t>
            </a:r>
          </a:p>
        </p:txBody>
      </p:sp>
      <p:pic>
        <p:nvPicPr>
          <p:cNvPr id="4" name="Picture 3" descr="11-fligh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489757"/>
            <a:ext cx="5547207" cy="3467004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365760"/>
            <a:ext cx="7223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Calibri"/>
              </a:rPr>
              <a:t>How I used AI</a:t>
            </a:r>
          </a:p>
        </p:txBody>
      </p:sp>
      <p:graphicFrame>
        <p:nvGraphicFramePr>
          <p:cNvPr id="3" name="Body table"/>
          <p:cNvGraphicFramePr>
            <a:graphicFrameLocks noGrp="1"/>
          </p:cNvGraphicFramePr>
          <p:nvPr/>
        </p:nvGraphicFramePr>
        <p:xfrm>
          <a:off x="365760" y="1371600"/>
          <a:ext cx="7223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4389120"/>
              </a:tblGrid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4C8D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91440" marR="91440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4C8DFF"/>
                          </a:solidFill>
                          <a:latin typeface="Calibri"/>
                        </a:rPr>
                        <a:t>AI tool</a:t>
                      </a:r>
                    </a:p>
                  </a:txBody>
                  <a:tcPr marL="91440" marR="91440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4C8DFF"/>
                          </a:solidFill>
                          <a:latin typeface="Calibri"/>
                        </a:rPr>
                        <a:t>Example prompt</a:t>
                      </a:r>
                    </a:p>
                  </a:txBody>
                  <a:tcPr marL="91440" marR="91440">
                    <a:solidFill>
                      <a:srgbClr val="1A27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E6EDF7"/>
                          </a:solidFill>
                          <a:latin typeface="Calibri"/>
                        </a:rPr>
                        <a:t>Empathize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E6EDF7"/>
                          </a:solidFill>
                          <a:latin typeface="Calibri"/>
                        </a:rPr>
                        <a:t>Define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E6EDF7"/>
                          </a:solidFill>
                          <a:latin typeface="Calibri"/>
                        </a:rPr>
                        <a:t>Ideate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E6EDF7"/>
                          </a:solidFill>
                          <a:latin typeface="Calibri"/>
                        </a:rPr>
                        <a:t>Prototype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E6EDF7"/>
                          </a:solidFill>
                          <a:latin typeface="Calibri"/>
                        </a:rPr>
                        <a:t>Claude Code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E6EDF7"/>
                          </a:solidFill>
                          <a:latin typeface="Calibri"/>
                        </a:rPr>
                        <a:t>Build IES Autopilot in 9 phases from BUILD_PROMPT.md, with seed data and tests.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sz="1400" b="1">
                          <a:solidFill>
                            <a:srgbClr val="E6EDF7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>
                          <a:solidFill>
                            <a:srgbClr val="8FA3BF"/>
                          </a:solidFill>
                          <a:latin typeface="Calibri"/>
                        </a:rPr>
                        <a:t>Edit me</a:t>
                      </a:r>
                    </a:p>
                  </a:txBody>
                  <a:tcPr marL="91440" marR="91440">
                    <a:solidFill>
                      <a:srgbClr val="0D1524"/>
                    </a:solidFill>
                  </a:tcPr>
                </a:tc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365760" y="493776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4C8DFF"/>
                </a:solidFill>
                <a:latin typeface="Calibri"/>
              </a:rPr>
              <a:t>Next steps: </a:t>
            </a:r>
            <a:r>
              <a:rPr sz="1600" b="0">
                <a:solidFill>
                  <a:srgbClr val="E6EDF7"/>
                </a:solidFill>
                <a:latin typeface="Calibri"/>
              </a:rPr>
              <a:t>run four rapid tests, interview 8 controllers, and pilot 3 partner agents.</a:t>
            </a:r>
          </a:p>
        </p:txBody>
      </p:sp>
      <p:pic>
        <p:nvPicPr>
          <p:cNvPr id="5" name="Picture 4" descr="18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371600"/>
            <a:ext cx="3870655" cy="2419159"/>
          </a:xfrm>
          <a:prstGeom prst="rect">
            <a:avLst/>
          </a:prstGeom>
          <a:ln w="9525">
            <a:solidFill>
              <a:srgbClr val="25354F"/>
            </a:solidFill>
          </a:ln>
        </p:spPr>
      </p:pic>
      <p:sp>
        <p:nvSpPr>
          <p:cNvPr id="6" name="Footer"/>
          <p:cNvSpPr txBox="1"/>
          <p:nvPr/>
        </p:nvSpPr>
        <p:spPr>
          <a:xfrm>
            <a:off x="365760" y="62179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FA3BF"/>
                </a:solidFill>
                <a:latin typeface="Calibri"/>
              </a:rPr>
              <a:t>IES Autopilot | Anubhab Chakraborty | Intuit PM Intern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